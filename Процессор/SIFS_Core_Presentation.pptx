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457200"/>
            <a:ext cx="2743200" cy="2743200"/>
          </a:xfrm>
          <a:prstGeom prst="ellipse">
            <a:avLst/>
          </a:prstGeom>
          <a:solidFill>
            <a:srgbClr val="2EC4F3">
              <a:alpha val="4000"/>
            </a:srgbClr>
          </a:solidFill>
          <a:ln w="12700">
            <a:solidFill>
              <a:srgbClr val="2EC4F3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914400"/>
            <a:ext cx="2377440" cy="2377440"/>
          </a:xfrm>
          <a:prstGeom prst="ellipse">
            <a:avLst/>
          </a:prstGeom>
          <a:solidFill>
            <a:srgbClr val="2EC4F3">
              <a:alpha val="6000"/>
            </a:srgbClr>
          </a:solidFill>
          <a:ln w="12700">
            <a:solidFill>
              <a:srgbClr val="2EC4F3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371600"/>
            <a:ext cx="2011680" cy="2011680"/>
          </a:xfrm>
          <a:prstGeom prst="ellipse">
            <a:avLst/>
          </a:prstGeom>
          <a:solidFill>
            <a:srgbClr val="2EC4F3">
              <a:alpha val="8000"/>
            </a:srgbClr>
          </a:solidFill>
          <a:ln w="12700">
            <a:solidFill>
              <a:srgbClr val="2EC4F3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0" y="1828800"/>
            <a:ext cx="1645920" cy="1645920"/>
          </a:xfrm>
          <a:prstGeom prst="ellipse">
            <a:avLst/>
          </a:prstGeom>
          <a:solidFill>
            <a:srgbClr val="2EC4F3">
              <a:alpha val="10000"/>
            </a:srgbClr>
          </a:solidFill>
          <a:ln w="12700">
            <a:solidFill>
              <a:srgbClr val="2EC4F3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2286000"/>
            <a:ext cx="1280160" cy="1280160"/>
          </a:xfrm>
          <a:prstGeom prst="ellipse">
            <a:avLst/>
          </a:prstGeom>
          <a:solidFill>
            <a:srgbClr val="2EC4F3">
              <a:alpha val="12000"/>
            </a:srgbClr>
          </a:solidFill>
          <a:ln w="12700">
            <a:solidFill>
              <a:srgbClr val="2EC4F3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229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spc="1800" kern="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SIFS</a:t>
            </a:r>
            <a:endParaRPr lang="en-US" sz="880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2E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Scale-Invariant Fractal System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5760" y="2697480"/>
            <a:ext cx="3200400" cy="27432"/>
          </a:xfrm>
          <a:prstGeom prst="rect">
            <a:avLst/>
          </a:prstGeom>
          <a:solidFill>
            <a:srgbClr val="F3A02E"/>
          </a:solidFill>
          <a:ln w="12700">
            <a:solidFill>
              <a:srgbClr val="F3A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816352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Математическое ядро масштабно-инвариантных систем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· Расчёты · Верификация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749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A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W(n) = e^(−2n/π²)     V_th(n) = V₀/φⁿ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956048"/>
            <a:ext cx="9144000" cy="27432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754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1.0  |  Scale-Invariant Fractal System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27432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77316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73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Содержание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256032"/>
            <a:ext cx="868680" cy="237744"/>
          </a:xfrm>
          <a:prstGeom prst="rect">
            <a:avLst/>
          </a:prstGeom>
          <a:solidFill>
            <a:srgbClr val="8896B0">
              <a:alpha val="18000"/>
            </a:srgbClr>
          </a:solidFill>
          <a:ln w="12700">
            <a:solidFill>
              <a:srgbClr val="8896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560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документа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4343400" cy="896112"/>
          </a:xfrm>
          <a:prstGeom prst="rect">
            <a:avLst/>
          </a:prstGeom>
          <a:solidFill>
            <a:srgbClr val="1A2235"/>
          </a:solidFill>
          <a:ln w="12700">
            <a:solidFill>
              <a:srgbClr val="2EC4F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00200"/>
            <a:ext cx="45720" cy="896112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733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4128" y="1691640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Фундаментальные константы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24128" y="2075688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1/π²,  φ,  числа Фибоначчи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1600200"/>
            <a:ext cx="4343400" cy="896112"/>
          </a:xfrm>
          <a:prstGeom prst="rect">
            <a:avLst/>
          </a:prstGeom>
          <a:solidFill>
            <a:srgbClr val="1A2235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600200"/>
            <a:ext cx="45720" cy="89611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6733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58968" y="1691640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Масштабная метрика SIFS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58968" y="2075688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RS-пространство, W(n), S-координата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679192"/>
            <a:ext cx="4343400" cy="896112"/>
          </a:xfrm>
          <a:prstGeom prst="rect">
            <a:avLst/>
          </a:prstGeom>
          <a:solidFill>
            <a:srgbClr val="1A2235"/>
          </a:solidFill>
          <a:ln w="12700">
            <a:solidFill>
              <a:srgbClr val="F3A0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679192"/>
            <a:ext cx="45720" cy="896112"/>
          </a:xfrm>
          <a:prstGeom prst="rect">
            <a:avLst/>
          </a:prstGeom>
          <a:solidFill>
            <a:srgbClr val="F3A02E"/>
          </a:solidFill>
          <a:ln w="12700">
            <a:solidFill>
              <a:srgbClr val="F3A0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75234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24128" y="2770632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Иерархия уровней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24128" y="3154680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S-уровней, физические механизмы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679192"/>
            <a:ext cx="4343400" cy="896112"/>
          </a:xfrm>
          <a:prstGeom prst="rect">
            <a:avLst/>
          </a:prstGeom>
          <a:solidFill>
            <a:srgbClr val="1A2235"/>
          </a:solidFill>
          <a:ln w="12700">
            <a:solidFill>
              <a:srgbClr val="2EF3A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679192"/>
            <a:ext cx="45720" cy="896112"/>
          </a:xfrm>
          <a:prstGeom prst="rect">
            <a:avLst/>
          </a:prstGeom>
          <a:solidFill>
            <a:srgbClr val="2EF3A0"/>
          </a:solidFill>
          <a:ln w="12700">
            <a:solidFill>
              <a:srgbClr val="2EF3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75234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F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58968" y="2770632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Математическая верификация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58968" y="3154680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Туннельный ток, SNR, ёмкость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758184"/>
            <a:ext cx="4343400" cy="896112"/>
          </a:xfrm>
          <a:prstGeom prst="rect">
            <a:avLst/>
          </a:prstGeom>
          <a:solidFill>
            <a:srgbClr val="1A2235"/>
          </a:solidFill>
          <a:ln w="12700">
            <a:solidFill>
              <a:srgbClr val="2EC4F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758184"/>
            <a:ext cx="45720" cy="896112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83133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24128" y="3849624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Нейронная архитектура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24128" y="4233672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LIF-нейрон, правило Хебба, топология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3758184"/>
            <a:ext cx="4343400" cy="896112"/>
          </a:xfrm>
          <a:prstGeom prst="rect">
            <a:avLst/>
          </a:prstGeom>
          <a:solidFill>
            <a:srgbClr val="1A2235"/>
          </a:solidFill>
          <a:ln w="12700">
            <a:solidFill>
              <a:srgbClr val="F3A0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3758184"/>
            <a:ext cx="45720" cy="896112"/>
          </a:xfrm>
          <a:prstGeom prst="rect">
            <a:avLst/>
          </a:prstGeom>
          <a:solidFill>
            <a:srgbClr val="F3A02E"/>
          </a:solidFill>
          <a:ln w="12700">
            <a:solidFill>
              <a:srgbClr val="F3A0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383133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458968" y="3849624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458968" y="4233672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с биологическим мозгом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27432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77316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73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Константы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256032"/>
            <a:ext cx="3282696" cy="237744"/>
          </a:xfrm>
          <a:prstGeom prst="rect">
            <a:avLst/>
          </a:prstGeom>
          <a:solidFill>
            <a:srgbClr val="2EC4F3">
              <a:alpha val="18000"/>
            </a:srgbClr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56032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E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ФУНДАМЕНТАЛЬНЫЕ КОНСТАНТЫ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числа — одна архитектура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2743200" cy="3310128"/>
          </a:xfrm>
          <a:prstGeom prst="rect">
            <a:avLst/>
          </a:prstGeom>
          <a:solidFill>
            <a:srgbClr val="1A2235"/>
          </a:solidFill>
          <a:ln w="12700">
            <a:solidFill>
              <a:srgbClr val="2EC4F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72768"/>
            <a:ext cx="2743200" cy="36576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6916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1/π²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9768" y="2176272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0.10132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29768" y="2578608"/>
            <a:ext cx="2377440" cy="18288"/>
          </a:xfrm>
          <a:prstGeom prst="rect">
            <a:avLst/>
          </a:prstGeom>
          <a:solidFill>
            <a:srgbClr val="2EC4F3">
              <a:alpha val="40000"/>
            </a:srgbClr>
          </a:solidFill>
          <a:ln w="12700">
            <a:solidFill>
              <a:srgbClr val="2EC4F3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651760"/>
            <a:ext cx="25237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Константа затухания.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Определяет скорость убывания W(n) между масштабными уровнями.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k = 1/(π × ψ₁), где ψ₁ = π²/π = π → k = 1/π²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72968" y="1572768"/>
            <a:ext cx="2743200" cy="3310128"/>
          </a:xfrm>
          <a:prstGeom prst="rect">
            <a:avLst/>
          </a:prstGeom>
          <a:solidFill>
            <a:srgbClr val="1A2235"/>
          </a:solidFill>
          <a:ln w="12700">
            <a:solidFill>
              <a:srgbClr val="F3A0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1572768"/>
            <a:ext cx="2743200" cy="36576"/>
          </a:xfrm>
          <a:prstGeom prst="rect">
            <a:avLst/>
          </a:prstGeom>
          <a:solidFill>
            <a:srgbClr val="F3A02E"/>
          </a:solidFill>
          <a:ln w="12700">
            <a:solidFill>
              <a:srgbClr val="F3A0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82696" y="16916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A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φ = (1+√5)/2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82696" y="2176272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1.61803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82696" y="2578608"/>
            <a:ext cx="2377440" cy="18288"/>
          </a:xfrm>
          <a:prstGeom prst="rect">
            <a:avLst/>
          </a:prstGeom>
          <a:solidFill>
            <a:srgbClr val="F3A02E">
              <a:alpha val="40000"/>
            </a:srgbClr>
          </a:solidFill>
          <a:ln w="12700">
            <a:solidFill>
              <a:srgbClr val="F3A02E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82696" y="2651760"/>
            <a:ext cx="25237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Золотое сечение.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Пороги переключения V₀/φⁿ и дальности связей r₀·φⁿ.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Свойство: F(n+1)/F(n) → φ при n → ∞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25896" y="1572768"/>
            <a:ext cx="2743200" cy="3310128"/>
          </a:xfrm>
          <a:prstGeom prst="rect">
            <a:avLst/>
          </a:prstGeom>
          <a:solidFill>
            <a:srgbClr val="1A2235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25896" y="1572768"/>
            <a:ext cx="2743200" cy="36576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35624" y="16916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F(n)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135624" y="2176272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1,1,2,3,5,8...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135624" y="2578608"/>
            <a:ext cx="2377440" cy="18288"/>
          </a:xfrm>
          <a:prstGeom prst="rect">
            <a:avLst/>
          </a:prstGeom>
          <a:solidFill>
            <a:srgbClr val="7B61FF">
              <a:alpha val="40000"/>
            </a:srgbClr>
          </a:solidFill>
          <a:ln w="12700">
            <a:solidFill>
              <a:srgbClr val="7B61FF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35624" y="2651760"/>
            <a:ext cx="25237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Числа Фибоначчи.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Индексы S-уровней. Самоподобие: F(n) = F(n−1) + F(n−2).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Отношение: F(n+1)/F(n) = φ (предел)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A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Связь: W(n) = exp(−2·k·n)  при n = F(k) — числа Фибоначчи,  V_th(n) = V₀/φⁿ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27432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77316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73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Масштабная метрика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256032"/>
            <a:ext cx="3081528" cy="237744"/>
          </a:xfrm>
          <a:prstGeom prst="rect">
            <a:avLst/>
          </a:prstGeom>
          <a:solidFill>
            <a:srgbClr val="7B61FF">
              <a:alpha val="18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56032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МАСШТАБНАЯ МЕТРИКА SIFS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RS-пространство с варпинг-функцией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117043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Пятимерная метрика: 4D пространство-время + масштабная координата 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4160520" cy="3337560"/>
          </a:xfrm>
          <a:prstGeom prst="rect">
            <a:avLst/>
          </a:prstGeom>
          <a:solidFill>
            <a:srgbClr val="1A2235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508760"/>
            <a:ext cx="45720" cy="333756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00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RS-пространства: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1993392"/>
            <a:ext cx="3977640" cy="475488"/>
          </a:xfrm>
          <a:prstGeom prst="rect">
            <a:avLst/>
          </a:prstGeom>
          <a:solidFill>
            <a:srgbClr val="0D1525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993392"/>
            <a:ext cx="397764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ds² = e^(−2k|S|)·(c²dt²−dx²−dy²−dz²) + dS²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2578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Варпинг-функция: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880360"/>
            <a:ext cx="3977640" cy="411480"/>
          </a:xfrm>
          <a:prstGeom prst="rect">
            <a:avLst/>
          </a:prstGeom>
          <a:solidFill>
            <a:srgbClr val="0D1525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880360"/>
            <a:ext cx="397764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W(n) = exp(−2n/π²)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3401568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Физический смысл: "видимость" уровня 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относительно базового уровня S=0.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n → ∞ система входит за горизонт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наблюдаемости (W → 0).</a:t>
            </a:r>
            <a:endParaRPr lang="en-US" sz="1050" dirty="0"/>
          </a:p>
        </p:txBody>
      </p:sp>
      <p:pic>
        <p:nvPicPr>
          <p:cNvPr id="18" name="Image 0" descr="/home/claude/slides_img/war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481328"/>
            <a:ext cx="429768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27432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77316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73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Иерархия уровней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256032"/>
            <a:ext cx="2578608" cy="237744"/>
          </a:xfrm>
          <a:prstGeom prst="rect">
            <a:avLst/>
          </a:prstGeom>
          <a:solidFill>
            <a:srgbClr val="F3A02E">
              <a:alpha val="18000"/>
            </a:srgbClr>
          </a:solidFill>
          <a:ln w="12700">
            <a:solidFill>
              <a:srgbClr val="F3A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5603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3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ИЕРАРХИЯ S-УРОВНЕЙ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масштабных уровней Фибоначчи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594360" cy="27432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087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14400" y="1508760"/>
            <a:ext cx="457200" cy="27432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371600" y="1508760"/>
            <a:ext cx="594360" cy="27432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15087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965960" y="1508760"/>
            <a:ext cx="530352" cy="27432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5960" y="150876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W(n)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96312" y="1508760"/>
            <a:ext cx="1737360" cy="27432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1508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Механизм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233672" y="1508760"/>
            <a:ext cx="1051560" cy="27432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33672" y="15087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Диапазон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1783080"/>
            <a:ext cx="594360" cy="301752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1783080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0" y="1783080"/>
            <a:ext cx="457200" cy="301752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178308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0" y="1783080"/>
            <a:ext cx="594360" cy="301752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1783080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нм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965960" y="1783080"/>
            <a:ext cx="530352" cy="301752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65960" y="1783080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496312" y="1783080"/>
            <a:ext cx="1737360" cy="301752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96312" y="178308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Графен SPP-антенна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33672" y="1783080"/>
            <a:ext cx="1051560" cy="301752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33672" y="1783080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/ радио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1783080"/>
            <a:ext cx="36576" cy="301752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084832"/>
            <a:ext cx="594360" cy="301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2084832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14400" y="2084832"/>
            <a:ext cx="457200" cy="301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2084832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371600" y="2084832"/>
            <a:ext cx="594360" cy="301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71600" y="2084832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нм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965960" y="2084832"/>
            <a:ext cx="530352" cy="301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65960" y="2084832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0.817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496312" y="2084832"/>
            <a:ext cx="1737360" cy="301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96312" y="2084832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Плазмон Au-поверхности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233672" y="2084832"/>
            <a:ext cx="1051560" cy="301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33672" y="2084832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" y="2084832"/>
            <a:ext cx="36576" cy="301752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" y="2386584"/>
            <a:ext cx="594360" cy="301752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2386584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n=2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14400" y="2386584"/>
            <a:ext cx="457200" cy="301752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4400" y="238658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371600" y="2386584"/>
            <a:ext cx="594360" cy="301752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0" y="2386584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нм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965960" y="2386584"/>
            <a:ext cx="530352" cy="301752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965960" y="2386584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0.667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496312" y="2386584"/>
            <a:ext cx="1737360" cy="301752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96312" y="2386584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Казимир-резонанс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233672" y="2386584"/>
            <a:ext cx="1051560" cy="301752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33672" y="2386584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УВЧ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0040" y="2386584"/>
            <a:ext cx="36576" cy="301752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0040" y="2688336"/>
            <a:ext cx="594360" cy="301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2688336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A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n=3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914400" y="2688336"/>
            <a:ext cx="457200" cy="301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14400" y="2688336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371600" y="2688336"/>
            <a:ext cx="594360" cy="301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371600" y="2688336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нм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965960" y="2688336"/>
            <a:ext cx="530352" cy="301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965960" y="2688336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3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0.545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496312" y="2688336"/>
            <a:ext cx="1737360" cy="301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496312" y="2688336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МОП-переключение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233672" y="2688336"/>
            <a:ext cx="1051560" cy="301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233672" y="2688336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СВЧ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20040" y="2688336"/>
            <a:ext cx="36576" cy="301752"/>
          </a:xfrm>
          <a:prstGeom prst="rect">
            <a:avLst/>
          </a:prstGeom>
          <a:solidFill>
            <a:srgbClr val="F3A02E"/>
          </a:solidFill>
          <a:ln w="12700">
            <a:solidFill>
              <a:srgbClr val="F3A02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0040" y="2990088"/>
            <a:ext cx="594360" cy="301752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0040" y="2990088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A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n=4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914400" y="2990088"/>
            <a:ext cx="457200" cy="301752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14400" y="2990088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1371600" y="2990088"/>
            <a:ext cx="594360" cy="301752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0" y="2990088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нм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965960" y="2990088"/>
            <a:ext cx="530352" cy="301752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965960" y="2990088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3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0.445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496312" y="2990088"/>
            <a:ext cx="1737360" cy="301752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496312" y="2990088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Туннель сквозь h-BN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233672" y="2990088"/>
            <a:ext cx="1051560" cy="301752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233672" y="2990088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мм-волны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320040" y="2990088"/>
            <a:ext cx="36576" cy="301752"/>
          </a:xfrm>
          <a:prstGeom prst="rect">
            <a:avLst/>
          </a:prstGeom>
          <a:solidFill>
            <a:srgbClr val="F3A02E"/>
          </a:solidFill>
          <a:ln w="12700">
            <a:solidFill>
              <a:srgbClr val="F3A02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20040" y="3291840"/>
            <a:ext cx="594360" cy="301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20040" y="3291840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A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n=5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914400" y="3291840"/>
            <a:ext cx="457200" cy="301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14400" y="329184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F13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1371600" y="3291840"/>
            <a:ext cx="594360" cy="301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371600" y="3291840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нм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1965960" y="3291840"/>
            <a:ext cx="530352" cy="301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965960" y="3291840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3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0.363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2496312" y="3291840"/>
            <a:ext cx="1737360" cy="301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496312" y="329184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Плазм. нановолновод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233672" y="3291840"/>
            <a:ext cx="1051560" cy="301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233672" y="3291840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ТГц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320040" y="3291840"/>
            <a:ext cx="36576" cy="301752"/>
          </a:xfrm>
          <a:prstGeom prst="rect">
            <a:avLst/>
          </a:prstGeom>
          <a:solidFill>
            <a:srgbClr val="F3A02E"/>
          </a:solidFill>
          <a:ln w="12700">
            <a:solidFill>
              <a:srgbClr val="F3A02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20040" y="3593592"/>
            <a:ext cx="594360" cy="301752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20040" y="3593592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n=6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0" y="3593592"/>
            <a:ext cx="457200" cy="301752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14400" y="3593592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F21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1371600" y="3593592"/>
            <a:ext cx="594360" cy="301752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371600" y="3593592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нм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1965960" y="3593592"/>
            <a:ext cx="530352" cy="301752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965960" y="3593592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0.297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2496312" y="3593592"/>
            <a:ext cx="1737360" cy="301752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496312" y="3593592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Нано-остриё SERS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4233672" y="3593592"/>
            <a:ext cx="1051560" cy="301752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233672" y="3593592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ИК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320040" y="3593592"/>
            <a:ext cx="36576" cy="3017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20040" y="3895344"/>
            <a:ext cx="594360" cy="301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20040" y="3895344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n=7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914400" y="3895344"/>
            <a:ext cx="457200" cy="301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914400" y="389534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F34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1371600" y="3895344"/>
            <a:ext cx="594360" cy="301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371600" y="3895344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нм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1965960" y="3895344"/>
            <a:ext cx="530352" cy="301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965960" y="3895344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0.242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2496312" y="3895344"/>
            <a:ext cx="1737360" cy="301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496312" y="3895344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e-beam элемент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4233672" y="3895344"/>
            <a:ext cx="1051560" cy="301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233672" y="3895344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Ближний ИК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320040" y="3895344"/>
            <a:ext cx="36576" cy="3017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320040" y="4197096"/>
            <a:ext cx="594360" cy="301752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20040" y="4197096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n=8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914400" y="4197096"/>
            <a:ext cx="457200" cy="301752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914400" y="4197096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F55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1371600" y="4197096"/>
            <a:ext cx="594360" cy="301752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371600" y="4197096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нм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1965960" y="4197096"/>
            <a:ext cx="530352" cy="301752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965960" y="4197096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0.198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2496312" y="4197096"/>
            <a:ext cx="1737360" cy="301752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2496312" y="4197096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STM-туннелирование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4233672" y="4197096"/>
            <a:ext cx="1051560" cy="301752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4233672" y="4197096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Видимый свет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320040" y="4197096"/>
            <a:ext cx="36576" cy="3017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320040" y="4498848"/>
            <a:ext cx="594360" cy="301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320040" y="4498848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F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n=9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914400" y="4498848"/>
            <a:ext cx="457200" cy="301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914400" y="4498848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F89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1371600" y="4498848"/>
            <a:ext cx="594360" cy="301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371600" y="4498848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нм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1965960" y="4498848"/>
            <a:ext cx="530352" cy="301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965960" y="4498848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F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0.161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2496312" y="4498848"/>
            <a:ext cx="1737360" cy="301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2496312" y="4498848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Квантовая точка (ядро)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4233672" y="4498848"/>
            <a:ext cx="1051560" cy="301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4233672" y="4498848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УФ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320040" y="4498848"/>
            <a:ext cx="36576" cy="301752"/>
          </a:xfrm>
          <a:prstGeom prst="rect">
            <a:avLst/>
          </a:prstGeom>
          <a:solidFill>
            <a:srgbClr val="2EF3A0"/>
          </a:solidFill>
          <a:ln w="12700">
            <a:solidFill>
              <a:srgbClr val="2EF3A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349240" y="1783080"/>
            <a:ext cx="594360" cy="905256"/>
          </a:xfrm>
          <a:prstGeom prst="rect">
            <a:avLst/>
          </a:prstGeom>
          <a:solidFill>
            <a:srgbClr val="2EC4F3">
              <a:alpha val="18000"/>
            </a:srgbClr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5349240" y="1783080"/>
            <a:ext cx="5943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МАКРО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E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0..2</a:t>
            </a: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5349240" y="2688336"/>
            <a:ext cx="594360" cy="1207008"/>
          </a:xfrm>
          <a:prstGeom prst="rect">
            <a:avLst/>
          </a:prstGeom>
          <a:solidFill>
            <a:srgbClr val="F3A02E">
              <a:alpha val="18000"/>
            </a:srgbClr>
          </a:solidFill>
          <a:ln w="12700">
            <a:solidFill>
              <a:srgbClr val="F3A02E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5349240" y="2688336"/>
            <a:ext cx="5943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3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МЕЗО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3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3..6</a:t>
            </a:r>
            <a:endParaRPr lang="en-US" sz="750" dirty="0"/>
          </a:p>
        </p:txBody>
      </p:sp>
      <p:sp>
        <p:nvSpPr>
          <p:cNvPr id="154" name="Shape 152"/>
          <p:cNvSpPr/>
          <p:nvPr/>
        </p:nvSpPr>
        <p:spPr>
          <a:xfrm>
            <a:off x="5349240" y="3895344"/>
            <a:ext cx="594360" cy="905256"/>
          </a:xfrm>
          <a:prstGeom prst="rect">
            <a:avLst/>
          </a:prstGeom>
          <a:solidFill>
            <a:srgbClr val="7B61FF">
              <a:alpha val="18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5349240" y="3895344"/>
            <a:ext cx="5943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7..9</a:t>
            </a:r>
            <a:endParaRPr lang="en-US" sz="750" dirty="0"/>
          </a:p>
        </p:txBody>
      </p:sp>
      <p:sp>
        <p:nvSpPr>
          <p:cNvPr id="156" name="Shape 154"/>
          <p:cNvSpPr/>
          <p:nvPr/>
        </p:nvSpPr>
        <p:spPr>
          <a:xfrm>
            <a:off x="5349240" y="4800600"/>
            <a:ext cx="594360" cy="301752"/>
          </a:xfrm>
          <a:prstGeom prst="rect">
            <a:avLst/>
          </a:prstGeom>
          <a:solidFill>
            <a:srgbClr val="2EF3A0">
              <a:alpha val="18000"/>
            </a:srgbClr>
          </a:solidFill>
          <a:ln w="12700">
            <a:solidFill>
              <a:srgbClr val="2EF3A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5349240" y="4800600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EF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9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27432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77316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73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Верификация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256032"/>
            <a:ext cx="3383280" cy="237744"/>
          </a:xfrm>
          <a:prstGeom prst="rect">
            <a:avLst/>
          </a:prstGeom>
          <a:solidFill>
            <a:srgbClr val="2EF3A0">
              <a:alpha val="18000"/>
            </a:srgbClr>
          </a:solidFill>
          <a:ln w="12700">
            <a:solidFill>
              <a:srgbClr val="2EF3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560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EF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МАТЕМАТИЧЕСКАЯ ВЕРИФИКАЦИЯ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φ-пороги и I-V характеристика</a:t>
            </a:r>
            <a:endParaRPr lang="en-US" sz="3200" dirty="0"/>
          </a:p>
        </p:txBody>
      </p:sp>
      <p:pic>
        <p:nvPicPr>
          <p:cNvPr id="8" name="Image 0" descr="/home/claude/slides_img/threshol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81328"/>
            <a:ext cx="4389120" cy="3364992"/>
          </a:xfrm>
          <a:prstGeom prst="rect">
            <a:avLst/>
          </a:prstGeom>
        </p:spPr>
      </p:pic>
      <p:pic>
        <p:nvPicPr>
          <p:cNvPr id="9" name="Image 1" descr="/home/claude/slides_img/iv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81328"/>
            <a:ext cx="4114800" cy="33649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" y="13258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Пороги  V_th(n) = V₀/φⁿ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754880" y="13258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I-V кривая: 10 ступеней Фибоначчи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27432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77316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73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Расчёты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256032"/>
            <a:ext cx="2377440" cy="237744"/>
          </a:xfrm>
          <a:prstGeom prst="rect">
            <a:avLst/>
          </a:prstGeom>
          <a:solidFill>
            <a:srgbClr val="2EF3A0">
              <a:alpha val="18000"/>
            </a:srgbClr>
          </a:solidFill>
          <a:ln w="12700">
            <a:solidFill>
              <a:srgbClr val="2EF3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560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EF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КЛЮЧЕВЫЕ РАСЧЁТЫ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Физически подтверждённые значения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2724912" cy="1444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EC4F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81328"/>
            <a:ext cx="2724912" cy="36576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18488"/>
            <a:ext cx="2724912" cy="7946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28.3 нА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74320" y="2377074"/>
            <a:ext cx="2724912" cy="46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Туннельный ток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(формула Ландауэра,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φ=0.3 эВ, d=1 нм)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82112" y="1481328"/>
            <a:ext cx="2724912" cy="1444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EF3A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1481328"/>
            <a:ext cx="2724912" cy="36576"/>
          </a:xfrm>
          <a:prstGeom prst="rect">
            <a:avLst/>
          </a:prstGeom>
          <a:solidFill>
            <a:srgbClr val="2EF3A0"/>
          </a:solidFill>
          <a:ln w="12700">
            <a:solidFill>
              <a:srgbClr val="2EF3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82112" y="1618488"/>
            <a:ext cx="2724912" cy="7946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F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2025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182112" y="2377074"/>
            <a:ext cx="2724912" cy="46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Различимость порогов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300K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(тепловой шум 0.004 мВ)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9904" y="1481328"/>
            <a:ext cx="2724912" cy="1444752"/>
          </a:xfrm>
          <a:prstGeom prst="rect">
            <a:avLst/>
          </a:prstGeom>
          <a:solidFill>
            <a:srgbClr val="1A2235"/>
          </a:solidFill>
          <a:ln w="12700">
            <a:solidFill>
              <a:srgbClr val="F3A0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9904" y="1481328"/>
            <a:ext cx="2724912" cy="36576"/>
          </a:xfrm>
          <a:prstGeom prst="rect">
            <a:avLst/>
          </a:prstGeom>
          <a:solidFill>
            <a:srgbClr val="F3A02E"/>
          </a:solidFill>
          <a:ln w="12700">
            <a:solidFill>
              <a:srgbClr val="F3A0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9904" y="1618488"/>
            <a:ext cx="2724912" cy="7946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3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E_C/kT=70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089904" y="2377074"/>
            <a:ext cx="2724912" cy="46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Кулоновская блокада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при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комнатной температуре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063240"/>
            <a:ext cx="2724912" cy="1444752"/>
          </a:xfrm>
          <a:prstGeom prst="rect">
            <a:avLst/>
          </a:prstGeom>
          <a:solidFill>
            <a:srgbClr val="1A2235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63240"/>
            <a:ext cx="2724912" cy="36576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200400"/>
            <a:ext cx="2724912" cy="7946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ГГц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274320" y="3958986"/>
            <a:ext cx="2724912" cy="46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переключения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(теоретический предел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RC-постоянной)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82112" y="3063240"/>
            <a:ext cx="2724912" cy="1444752"/>
          </a:xfrm>
          <a:prstGeom prst="rect">
            <a:avLst/>
          </a:prstGeom>
          <a:solidFill>
            <a:srgbClr val="1A2235"/>
          </a:solidFill>
          <a:ln w="12700">
            <a:solidFill>
              <a:srgbClr val="2EC4F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82112" y="3063240"/>
            <a:ext cx="2724912" cy="36576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82112" y="3200400"/>
            <a:ext cx="2724912" cy="7946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3.46 бит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3182112" y="3958986"/>
            <a:ext cx="2724912" cy="46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Информационная ёмкость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ячейку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(74% от биологической)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89904" y="3063240"/>
            <a:ext cx="2724912" cy="1444752"/>
          </a:xfrm>
          <a:prstGeom prst="rect">
            <a:avLst/>
          </a:prstGeom>
          <a:solidFill>
            <a:srgbClr val="1A2235"/>
          </a:solidFill>
          <a:ln w="12700">
            <a:solidFill>
              <a:srgbClr val="F3A0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9904" y="3063240"/>
            <a:ext cx="2724912" cy="36576"/>
          </a:xfrm>
          <a:prstGeom prst="rect">
            <a:avLst/>
          </a:prstGeom>
          <a:solidFill>
            <a:srgbClr val="F3A02E"/>
          </a:solidFill>
          <a:ln w="12700">
            <a:solidFill>
              <a:srgbClr val="F3A0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9904" y="3200400"/>
            <a:ext cx="2724912" cy="7946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3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см³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089904" y="3958986"/>
            <a:ext cx="2724912" cy="46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10¹⁴ синапсов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(мозг = 1260 см³,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SIFS в 12600× компактнее)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27432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77316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73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Метрика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256032"/>
            <a:ext cx="2679192" cy="237744"/>
          </a:xfrm>
          <a:prstGeom prst="rect">
            <a:avLst/>
          </a:prstGeom>
          <a:solidFill>
            <a:srgbClr val="7B61FF">
              <a:alpha val="18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56032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ГРАДИЕНТНАЯ МЕТРИКА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Центростремительный поток и φ-тесселяция</a:t>
            </a:r>
            <a:endParaRPr lang="en-US" sz="3200" dirty="0"/>
          </a:p>
        </p:txBody>
      </p:sp>
      <p:pic>
        <p:nvPicPr>
          <p:cNvPr id="8" name="Image 0" descr="/home/claude/slides_img/metr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81328"/>
            <a:ext cx="5669280" cy="3364992"/>
          </a:xfrm>
          <a:prstGeom prst="rect">
            <a:avLst/>
          </a:prstGeom>
        </p:spPr>
      </p:pic>
      <p:pic>
        <p:nvPicPr>
          <p:cNvPr id="9" name="Image 1" descr="/home/claude/slides_img/smallwor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2834640" cy="35661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" y="46177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n(r) = n₀·exp(+2k(1−r/R))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Показатель преломления растёт к центру.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"затягивается" внутрь без затрат энергии.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035040" y="4617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φ-спираль Фибоначчи: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small-world топология σ &gt;&gt; 1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27432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77316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73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Нейронная архитектура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256032"/>
            <a:ext cx="2880360" cy="237744"/>
          </a:xfrm>
          <a:prstGeom prst="rect">
            <a:avLst/>
          </a:prstGeom>
          <a:solidFill>
            <a:srgbClr val="2EC4F3">
              <a:alpha val="18000"/>
            </a:srgbClr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5603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E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НЕЙРОННАЯ АРХИТЕКТУРА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SIFS-нейрон и правило обучения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4160520" cy="3364992"/>
          </a:xfrm>
          <a:prstGeom prst="rect">
            <a:avLst/>
          </a:prstGeom>
          <a:solidFill>
            <a:srgbClr val="1A2235"/>
          </a:solidFill>
          <a:ln w="12700">
            <a:solidFill>
              <a:srgbClr val="2EC4F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81328"/>
            <a:ext cx="45720" cy="3364992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727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LIF (Leaky Integrate-and-Fire)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920240"/>
            <a:ext cx="3931920" cy="411480"/>
          </a:xfrm>
          <a:prstGeom prst="rect">
            <a:avLst/>
          </a:prstGeom>
          <a:solidFill>
            <a:srgbClr val="0D1525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920240"/>
            <a:ext cx="393192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τ·dV/dt = −V + R_m·I_SIFS(t)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4048" y="2395728"/>
            <a:ext cx="3931920" cy="411480"/>
          </a:xfrm>
          <a:prstGeom prst="rect">
            <a:avLst/>
          </a:prstGeom>
          <a:solidFill>
            <a:srgbClr val="0D1525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395728"/>
            <a:ext cx="393192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I₀·Σ W(n)·σ(V_in − V₀/φⁿ)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обучения (аналог Хебба)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3273552"/>
            <a:ext cx="3931920" cy="411480"/>
          </a:xfrm>
          <a:prstGeom prst="rect">
            <a:avLst/>
          </a:prstGeom>
          <a:solidFill>
            <a:srgbClr val="0D1525"/>
          </a:solidFill>
          <a:ln w="12700">
            <a:solidFill>
              <a:srgbClr val="F3A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273552"/>
            <a:ext cx="393192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A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ΔS_gate = η · x_pre · x_post · Δt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8221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= 10 мс  |  частота спайков ~100 Гц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Оба значения — биологический диапазон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343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Совместная активность пре- и постсинаптического нейрона сдвигает S_gate → меняет W(n) всей иерархии параллельно.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1481328"/>
            <a:ext cx="4251960" cy="3364992"/>
          </a:xfrm>
          <a:prstGeom prst="rect">
            <a:avLst/>
          </a:prstGeom>
          <a:solidFill>
            <a:srgbClr val="1A2235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1481328"/>
            <a:ext cx="45720" cy="33649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15727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синапсов: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45152" y="1920240"/>
            <a:ext cx="4069080" cy="384048"/>
          </a:xfrm>
          <a:prstGeom prst="rect">
            <a:avLst/>
          </a:prstGeom>
          <a:solidFill>
            <a:srgbClr val="0D1525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5152" y="1920240"/>
            <a:ext cx="406908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k_n = k_total/ΣW(i) · W(n)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2423160"/>
            <a:ext cx="4069080" cy="566928"/>
          </a:xfrm>
          <a:prstGeom prst="rect">
            <a:avLst/>
          </a:prstGeom>
          <a:solidFill>
            <a:srgbClr val="0A0F1E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2468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n=0–2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36592" y="2697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1479+1208+986 синапсов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0" y="25786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нановолноводы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45152" y="3081528"/>
            <a:ext cx="4069080" cy="566928"/>
          </a:xfrm>
          <a:prstGeom prst="rect">
            <a:avLst/>
          </a:prstGeom>
          <a:solidFill>
            <a:srgbClr val="0A0F1E"/>
          </a:solidFill>
          <a:ln w="12700">
            <a:solidFill>
              <a:srgbClr val="F3A0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31272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A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n=3–5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36592" y="33558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805+658+537 синапсов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0" y="32369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Плазмонные шины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45152" y="3739896"/>
            <a:ext cx="4069080" cy="566928"/>
          </a:xfrm>
          <a:prstGeom prst="rect">
            <a:avLst/>
          </a:prstGeom>
          <a:solidFill>
            <a:srgbClr val="0A0F1E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37856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n=6–9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36592" y="40142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438+358+292+239 синапсов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58000" y="38953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Si₃N₄ фотоника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45152" y="446227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F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k_n = 7000  (совпадение с биологическим мозгом)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27432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77316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73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Масштабирование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256032"/>
            <a:ext cx="3886200" cy="237744"/>
          </a:xfrm>
          <a:prstGeom prst="rect">
            <a:avLst/>
          </a:prstGeom>
          <a:solidFill>
            <a:srgbClr val="F3A02E">
              <a:alpha val="18000"/>
            </a:srgbClr>
          </a:solidFill>
          <a:ln w="12700">
            <a:solidFill>
              <a:srgbClr val="F3A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5603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3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МАСШТАБИРОВАНИЕ ДО УРОВНЯ МОЗГА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SIFS-архитектура vs биологический мозг</a:t>
            </a:r>
            <a:endParaRPr lang="en-US" sz="3200" dirty="0"/>
          </a:p>
        </p:txBody>
      </p:sp>
      <p:pic>
        <p:nvPicPr>
          <p:cNvPr id="8" name="Image 0" descr="/home/claude/slides_img/sca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81328"/>
            <a:ext cx="5029200" cy="32735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68112" y="14813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F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Биологический мозг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223760" y="14813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SIFS-мозг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349240" y="1810512"/>
            <a:ext cx="3493008" cy="356616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13248" y="1810512"/>
            <a:ext cx="91440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Синапсов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345936" y="1810512"/>
            <a:ext cx="914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~10¹⁴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223760" y="1810512"/>
            <a:ext cx="1600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F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10¹⁴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349240" y="2212848"/>
            <a:ext cx="3493008" cy="356616"/>
          </a:xfrm>
          <a:prstGeom prst="rect">
            <a:avLst/>
          </a:prstGeom>
          <a:solidFill>
            <a:srgbClr val="0A0F1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13248" y="2212848"/>
            <a:ext cx="91440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345936" y="2212848"/>
            <a:ext cx="914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1260 см³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223760" y="2212848"/>
            <a:ext cx="1600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см³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349240" y="2615184"/>
            <a:ext cx="3493008" cy="356616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13248" y="2615184"/>
            <a:ext cx="91440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Мощность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345936" y="2615184"/>
            <a:ext cx="914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Вт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223760" y="2615184"/>
            <a:ext cx="1600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мкВт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349240" y="3017520"/>
            <a:ext cx="3493008" cy="356616"/>
          </a:xfrm>
          <a:prstGeom prst="rect">
            <a:avLst/>
          </a:prstGeom>
          <a:solidFill>
            <a:srgbClr val="0A0F1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13248" y="3017520"/>
            <a:ext cx="91440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BW/нейрон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345936" y="3017520"/>
            <a:ext cx="914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 МБит/с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223760" y="3017520"/>
            <a:ext cx="1600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ТБит/с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349240" y="3419856"/>
            <a:ext cx="3493008" cy="356616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13248" y="3419856"/>
            <a:ext cx="91440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Бит/синапс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345936" y="3419856"/>
            <a:ext cx="914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бит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223760" y="3419856"/>
            <a:ext cx="1600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3.46 бит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349240" y="3822192"/>
            <a:ext cx="3493008" cy="356616"/>
          </a:xfrm>
          <a:prstGeom prst="rect">
            <a:avLst/>
          </a:prstGeom>
          <a:solidFill>
            <a:srgbClr val="0A0F1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13248" y="3822192"/>
            <a:ext cx="91440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345936" y="3822192"/>
            <a:ext cx="914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LTP/LTD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223760" y="3822192"/>
            <a:ext cx="1600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ΔS∝x·x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349240" y="4224528"/>
            <a:ext cx="3493008" cy="356616"/>
          </a:xfrm>
          <a:prstGeom prst="rect">
            <a:avLst/>
          </a:prstGeom>
          <a:solidFill>
            <a:srgbClr val="1A22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413248" y="4224528"/>
            <a:ext cx="91440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Топология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345936" y="4224528"/>
            <a:ext cx="914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Small-world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7223760" y="4224528"/>
            <a:ext cx="1600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F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φ-SW σ≫1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27432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77316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73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Верификация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256032"/>
            <a:ext cx="2276856" cy="237744"/>
          </a:xfrm>
          <a:prstGeom prst="rect">
            <a:avLst/>
          </a:prstGeom>
          <a:solidFill>
            <a:srgbClr val="2EF3A0">
              <a:alpha val="18000"/>
            </a:srgbClr>
          </a:solidFill>
          <a:ln w="12700">
            <a:solidFill>
              <a:srgbClr val="2EF3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56032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EF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СВОДНАЯ ВЕРИФИКАЦИЯ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математически подтверждено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4251960" cy="1097280"/>
          </a:xfrm>
          <a:prstGeom prst="rect">
            <a:avLst/>
          </a:prstGeom>
          <a:solidFill>
            <a:srgbClr val="1A2235"/>
          </a:solidFill>
          <a:ln w="12700">
            <a:solidFill>
              <a:srgbClr val="2EC4F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08760"/>
            <a:ext cx="45720" cy="1097280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55448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156362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W(n) = exp(−2n/π²)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1911096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Варпинг убывает монотонно. Замыкание: W(π²) = e^(−2) = 0.1353 — универсальная точка.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36592" y="1508760"/>
            <a:ext cx="4251960" cy="1097280"/>
          </a:xfrm>
          <a:prstGeom prst="rect">
            <a:avLst/>
          </a:prstGeom>
          <a:solidFill>
            <a:srgbClr val="1A2235"/>
          </a:solidFill>
          <a:ln w="12700">
            <a:solidFill>
              <a:srgbClr val="2EF3A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36592" y="1508760"/>
            <a:ext cx="45720" cy="1097280"/>
          </a:xfrm>
          <a:prstGeom prst="rect">
            <a:avLst/>
          </a:prstGeom>
          <a:solidFill>
            <a:srgbClr val="2EF3A0"/>
          </a:solidFill>
          <a:ln w="12700">
            <a:solidFill>
              <a:srgbClr val="2EF3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55448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F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93792" y="156362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SNR = 2025 при 300К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1911096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Минимальный зазор между порогами 8.1 мВ &gt;&gt; тепловой шум 0.004 мВ. Все 10 порогов различимы.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715768"/>
            <a:ext cx="4251960" cy="1097280"/>
          </a:xfrm>
          <a:prstGeom prst="rect">
            <a:avLst/>
          </a:prstGeom>
          <a:solidFill>
            <a:srgbClr val="1A2235"/>
          </a:solidFill>
          <a:ln w="12700">
            <a:solidFill>
              <a:srgbClr val="F3A0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715768"/>
            <a:ext cx="45720" cy="1097280"/>
          </a:xfrm>
          <a:prstGeom prst="rect">
            <a:avLst/>
          </a:prstGeom>
          <a:solidFill>
            <a:srgbClr val="F3A02E"/>
          </a:solidFill>
          <a:ln w="12700">
            <a:solidFill>
              <a:srgbClr val="F3A0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76148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277063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k_total = Σ k_n = 7000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4048" y="3118104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Нормировка через ΣW(i) автоматически даёт 7000 синапсов/нейрон — совпадение с мозгом.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36592" y="2715768"/>
            <a:ext cx="4251960" cy="1097280"/>
          </a:xfrm>
          <a:prstGeom prst="rect">
            <a:avLst/>
          </a:prstGeom>
          <a:solidFill>
            <a:srgbClr val="1A2235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36592" y="2715768"/>
            <a:ext cx="45720" cy="109728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76148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193792" y="277063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Small-world: σ &gt;&gt; 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3118104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φ-тесселяция обеспечивает σ ~ 10⁶. Биологический мозг: σ ~ 1000–3000. Оба &gt;&gt; 1.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922776"/>
            <a:ext cx="4251960" cy="1097280"/>
          </a:xfrm>
          <a:prstGeom prst="rect">
            <a:avLst/>
          </a:prstGeom>
          <a:solidFill>
            <a:srgbClr val="1A2235"/>
          </a:solidFill>
          <a:ln w="12700">
            <a:solidFill>
              <a:srgbClr val="2EC4F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922776"/>
            <a:ext cx="45720" cy="1097280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96849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31520" y="397764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10¹⁴ синапсов → 0.1 см³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84048" y="4325112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размере элемента 100 нм: V = 10¹⁴ × (10⁻⁷)³ = 10⁻⁷ м³ = 0.1 см³. Прямой расчёт.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36592" y="3922776"/>
            <a:ext cx="4251960" cy="1097280"/>
          </a:xfrm>
          <a:prstGeom prst="rect">
            <a:avLst/>
          </a:prstGeom>
          <a:solidFill>
            <a:srgbClr val="1A2235"/>
          </a:solidFill>
          <a:ln w="12700">
            <a:solidFill>
              <a:srgbClr val="F3A0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36592" y="3922776"/>
            <a:ext cx="45720" cy="1097280"/>
          </a:xfrm>
          <a:prstGeom prst="rect">
            <a:avLst/>
          </a:prstGeom>
          <a:solidFill>
            <a:srgbClr val="F3A02E"/>
          </a:solidFill>
          <a:ln w="12700">
            <a:solidFill>
              <a:srgbClr val="F3A0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96849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193792" y="397764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Правило Хебба → ΔS ∝ x·x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46320" y="4325112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ΔS_gate = η·x_pre·x_post·Δt изменяет W(n) всей иерархии. Аналог LTP/LTD биологически.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2EC4F3">
              <a:alpha val="5000"/>
            </a:srgbClr>
          </a:solidFill>
          <a:ln w="12700">
            <a:solidFill>
              <a:srgbClr val="2EC4F3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3A02E"/>
          </a:solidFill>
          <a:ln w="12700">
            <a:solidFill>
              <a:srgbClr val="F3A0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56048"/>
            <a:ext cx="9144000" cy="27432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400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1800" kern="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SIFS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2EC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Scale-Invariant Fractal System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3200400" cy="27432"/>
          </a:xfrm>
          <a:prstGeom prst="rect">
            <a:avLst/>
          </a:prstGeom>
          <a:solidFill>
            <a:srgbClr val="F3A02E"/>
          </a:solidFill>
          <a:ln w="12700">
            <a:solidFill>
              <a:srgbClr val="F3A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4231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1/π²  ≈  0.10132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28803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A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W(n) = exp(−2n/π²)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33375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V_th(n) = V₀ / φⁿ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" y="39136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уравнения. Одно ядро. Масштабно-инвариантная архитектура.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754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1.0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SIFS — Scale-Invariant Fractal System</dc:title>
  <dc:subject>PptxGenJS Presentation</dc:subject>
  <dc:creator>SIFS Research</dc:creator>
  <cp:lastModifiedBy>SIFS Research</cp:lastModifiedBy>
  <cp:revision>1</cp:revision>
  <dcterms:created xsi:type="dcterms:W3CDTF">2026-03-02T08:46:26Z</dcterms:created>
  <dcterms:modified xsi:type="dcterms:W3CDTF">2026-03-02T08:46:26Z</dcterms:modified>
</cp:coreProperties>
</file>